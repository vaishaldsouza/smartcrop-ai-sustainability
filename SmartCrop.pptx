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51" r:id="rId9"/>
    <p:sldId id="302" r:id="rId10"/>
    <p:sldId id="339" r:id="rId11"/>
    <p:sldId id="340" r:id="rId12"/>
    <p:sldId id="345" r:id="rId13"/>
    <p:sldId id="346" r:id="rId14"/>
    <p:sldId id="347" r:id="rId15"/>
    <p:sldId id="349" r:id="rId16"/>
    <p:sldId id="341" r:id="rId17"/>
    <p:sldId id="352" r:id="rId18"/>
    <p:sldId id="348" r:id="rId19"/>
    <p:sldId id="344"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9" d="100"/>
          <a:sy n="89" d="100"/>
        </p:scale>
        <p:origin x="37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1/21/2026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1/21/2026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1/21/2026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1/21/2026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082204" y="3471401"/>
            <a:ext cx="3921760" cy="520595"/>
          </a:xfrm>
        </p:spPr>
        <p:txBody>
          <a:bodyPr/>
          <a:lstStyle/>
          <a:p>
            <a:pPr algn="r"/>
            <a:r>
              <a:rPr lang="en-US" b="0" dirty="0">
                <a:solidFill>
                  <a:schemeClr val="tx1"/>
                </a:solidFill>
              </a:rPr>
              <a:t>Student Name: VAISHAL DSOUZA</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287992" y="1794934"/>
            <a:ext cx="6219645" cy="999067"/>
          </a:xfrm>
        </p:spPr>
        <p:txBody>
          <a:bodyPr>
            <a:normAutofit fontScale="90000"/>
          </a:bodyPr>
          <a:lstStyle/>
          <a:p>
            <a:r>
              <a:rPr lang="en-GB" sz="3200" dirty="0"/>
              <a:t>Project Title -</a:t>
            </a:r>
            <a:r>
              <a:rPr lang="en-US" sz="3200" dirty="0"/>
              <a:t> </a:t>
            </a:r>
            <a:r>
              <a:rPr lang="en-US" dirty="0" err="1">
                <a:latin typeface="Arial" panose="020B0604020202020204" pitchFamily="34" charset="0"/>
                <a:cs typeface="Arial" panose="020B0604020202020204" pitchFamily="34" charset="0"/>
              </a:rPr>
              <a:t>SmartCrop</a:t>
            </a:r>
            <a:r>
              <a:rPr lang="en-US" dirty="0">
                <a:latin typeface="Arial" panose="020B0604020202020204" pitchFamily="34" charset="0"/>
                <a:cs typeface="Arial" panose="020B0604020202020204" pitchFamily="34" charset="0"/>
              </a:rPr>
              <a:t>: AI-Driven Sustainability Advisor for Farmers</a:t>
            </a:r>
            <a:endParaRPr lang="en-IN" sz="3200" dirty="0">
              <a:latin typeface="Arial" panose="020B0604020202020204" pitchFamily="34" charset="0"/>
              <a:cs typeface="Arial" panose="020B0604020202020204" pitchFamily="34"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1">
            <a:extLst>
              <a:ext uri="{FF2B5EF4-FFF2-40B4-BE49-F238E27FC236}">
                <a16:creationId xmlns:a16="http://schemas.microsoft.com/office/drawing/2014/main" id="{824B8A32-9AB3-457E-82E1-C85D3203CE35}"/>
              </a:ext>
            </a:extLst>
          </p:cNvPr>
          <p:cNvSpPr txBox="1">
            <a:spLocks/>
          </p:cNvSpPr>
          <p:nvPr/>
        </p:nvSpPr>
        <p:spPr>
          <a:xfrm>
            <a:off x="6553200" y="29464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8" name="Text Placeholder 1">
            <a:extLst>
              <a:ext uri="{FF2B5EF4-FFF2-40B4-BE49-F238E27FC236}">
                <a16:creationId xmlns:a16="http://schemas.microsoft.com/office/drawing/2014/main" id="{824B8A32-9AB3-457E-82E1-C85D3203CE35}"/>
              </a:ext>
            </a:extLst>
          </p:cNvPr>
          <p:cNvSpPr txBox="1">
            <a:spLocks/>
          </p:cNvSpPr>
          <p:nvPr/>
        </p:nvSpPr>
        <p:spPr>
          <a:xfrm>
            <a:off x="6705600" y="30988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9" name="Text Placeholder 1">
            <a:extLst>
              <a:ext uri="{FF2B5EF4-FFF2-40B4-BE49-F238E27FC236}">
                <a16:creationId xmlns:a16="http://schemas.microsoft.com/office/drawing/2014/main" id="{7201737A-B873-4D1D-8A41-5ABF5184BC8F}"/>
              </a:ext>
            </a:extLst>
          </p:cNvPr>
          <p:cNvSpPr txBox="1">
            <a:spLocks/>
          </p:cNvSpPr>
          <p:nvPr/>
        </p:nvSpPr>
        <p:spPr>
          <a:xfrm>
            <a:off x="4942935" y="3991996"/>
            <a:ext cx="5185338" cy="617252"/>
          </a:xfrm>
          <a:prstGeom prst="rect">
            <a:avLst/>
          </a:prstGeom>
        </p:spPr>
        <p:txBody>
          <a:bodyPr vert="horz" lIns="91440" tIns="45720" rIns="91440" bIns="45720" rtlCol="0">
            <a:normAutofit fontScale="92500"/>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b="0" dirty="0">
                <a:solidFill>
                  <a:schemeClr val="tx1"/>
                </a:solidFill>
              </a:rPr>
              <a:t>AICTE ID :</a:t>
            </a:r>
            <a:r>
              <a:rPr lang="en-IN" dirty="0"/>
              <a:t> STU687e298d7c6d71753098637</a:t>
            </a:r>
            <a:endParaRPr lang="en-IN" b="0" dirty="0">
              <a:solidFill>
                <a:schemeClr val="tx1"/>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nodePh="1">
                                  <p:stCondLst>
                                    <p:cond delay="0"/>
                                  </p:stCondLst>
                                  <p:endCondLst>
                                    <p:cond evt="begin" delay="0">
                                      <p:tn val="42"/>
                                    </p:cond>
                                  </p:end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ppt_w</p:attrName>
                                        </p:attrNameLst>
                                      </p:cBhvr>
                                      <p:tavLst>
                                        <p:tav tm="0">
                                          <p:val>
                                            <p:fltVal val="0"/>
                                          </p:val>
                                        </p:tav>
                                        <p:tav tm="100000">
                                          <p:val>
                                            <p:strVal val="#ppt_w"/>
                                          </p:val>
                                        </p:tav>
                                      </p:tavLst>
                                    </p:anim>
                                    <p:anim calcmode="lin" valueType="num">
                                      <p:cBhvr>
                                        <p:cTn id="45" dur="500" fill="hold"/>
                                        <p:tgtEl>
                                          <p:spTgt spid="8"/>
                                        </p:tgtEl>
                                        <p:attrNameLst>
                                          <p:attrName>ppt_h</p:attrName>
                                        </p:attrNameLst>
                                      </p:cBhvr>
                                      <p:tavLst>
                                        <p:tav tm="0">
                                          <p:val>
                                            <p:fltVal val="0"/>
                                          </p:val>
                                        </p:tav>
                                        <p:tav tm="100000">
                                          <p:val>
                                            <p:strVal val="#ppt_h"/>
                                          </p:val>
                                        </p:tav>
                                      </p:tavLst>
                                    </p:anim>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9">
                                            <p:txEl>
                                              <p:pRg st="0" end="0"/>
                                            </p:txEl>
                                          </p:spTgt>
                                        </p:tgtEl>
                                        <p:attrNameLst>
                                          <p:attrName>style.visibility</p:attrName>
                                        </p:attrNameLst>
                                      </p:cBhvr>
                                      <p:to>
                                        <p:strVal val="visible"/>
                                      </p:to>
                                    </p:set>
                                    <p:animEffect transition="in" filter="randombar(horizontal)">
                                      <p:cBhvr>
                                        <p:cTn id="51"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P spid="8" grpId="0"/>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46649" y="1314841"/>
            <a:ext cx="9730596" cy="5157079"/>
          </a:xfrm>
        </p:spPr>
        <p:txBody>
          <a:bodyPr>
            <a:noAutofit/>
          </a:bodyPr>
          <a:lstStyle/>
          <a:p>
            <a:r>
              <a:rPr lang="en-US" sz="2400" dirty="0">
                <a:latin typeface="Arial" panose="020B0604020202020204" pitchFamily="34" charset="0"/>
                <a:cs typeface="Arial" panose="020B0604020202020204" pitchFamily="34" charset="0"/>
              </a:rPr>
              <a:t>Small-holder farmers often experience low agricultural yields and financial instability due to reliance on traditional trial-and-error methods for crop selection. In the absence of scientific insights into soil nutrients such as Nitrogen, Phosphorus, and Potassium, along with environmental factors like rainfall, temperature, and humidity, farmers frequently cultivate crops that are unsuitable for their land conditions. This mismatch results in inefficient use of scarce water resources and excessive application of chemical fertilizers, which gradually degrades soil fertility and harms long-term productivity. The lack of accessible, data-driven decision tools further widens the gap between small-scale farmers and large industrial farms. There is a critical need for an easy-to-use, intelligent solution that can guide farmers toward optimal crop choices, ensuring higher yields, food security, and sustainable agricultural practices.</a:t>
            </a:r>
            <a:endParaRPr lang="en-IN" sz="2400" dirty="0">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461305" y="255834"/>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431242" y="2896328"/>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91387" y="399771"/>
            <a:ext cx="6266613"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CE144055-5CE5-80D5-F33A-B25F911196DF}"/>
              </a:ext>
            </a:extLst>
          </p:cNvPr>
          <p:cNvSpPr txBox="1"/>
          <p:nvPr/>
        </p:nvSpPr>
        <p:spPr>
          <a:xfrm>
            <a:off x="467359" y="1536174"/>
            <a:ext cx="9320365" cy="3785652"/>
          </a:xfrm>
          <a:prstGeom prst="rect">
            <a:avLst/>
          </a:prstGeom>
          <a:noFill/>
        </p:spPr>
        <p:txBody>
          <a:bodyPr wrap="square">
            <a:spAutoFit/>
          </a:bodyPr>
          <a:lstStyle/>
          <a:p>
            <a:r>
              <a:rPr lang="en-US" sz="2400" dirty="0" err="1">
                <a:latin typeface="Arial" panose="020B0604020202020204" pitchFamily="34" charset="0"/>
                <a:cs typeface="Arial" panose="020B0604020202020204" pitchFamily="34" charset="0"/>
              </a:rPr>
              <a:t>SmartCrop</a:t>
            </a:r>
            <a:r>
              <a:rPr lang="en-US" sz="2400" dirty="0">
                <a:latin typeface="Arial" panose="020B0604020202020204" pitchFamily="34" charset="0"/>
                <a:cs typeface="Arial" panose="020B0604020202020204" pitchFamily="34" charset="0"/>
              </a:rPr>
              <a:t> is a predictive and analytical tool that serves as a digital agricultural extension officer. The system utilizes a Random Forest Classifier trained on a comprehensive dataset of 2,200 agricultural records to recommend the optimal crop for a specific plot of land. Beyond simple prediction, the project integrates Explainable AI (XAI) through feature importance visualizations to show farmers which factors most influence their land's productivity. It also features a Sustainability Advisor that provides customized water-management and soil-health tips for each recommended crop, helping users transition toward regenerative farming practices.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 Placeholder 2">
            <a:extLst>
              <a:ext uri="{FF2B5EF4-FFF2-40B4-BE49-F238E27FC236}">
                <a16:creationId xmlns:a16="http://schemas.microsoft.com/office/drawing/2014/main" id="{1C462B02-67FD-F493-23BF-3D5CA0D8ED77}"/>
              </a:ext>
            </a:extLst>
          </p:cNvPr>
          <p:cNvSpPr>
            <a:spLocks noGrp="1" noChangeArrowheads="1"/>
          </p:cNvSpPr>
          <p:nvPr>
            <p:ph type="body" sz="quarter" idx="12"/>
          </p:nvPr>
        </p:nvSpPr>
        <p:spPr bwMode="auto">
          <a:xfrm>
            <a:off x="547210" y="2173705"/>
            <a:ext cx="995507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Small-holder Farmers:</a:t>
            </a:r>
            <a:r>
              <a:rPr kumimoji="0" lang="en-US" altLang="en-US" sz="1800" b="0" i="0" u="none" strike="noStrike" cap="none" normalizeH="0" baseline="0">
                <a:ln>
                  <a:noFill/>
                </a:ln>
                <a:solidFill>
                  <a:schemeClr val="tx1"/>
                </a:solidFill>
                <a:effectLst/>
                <a:latin typeface="Arial" panose="020B0604020202020204" pitchFamily="34" charset="0"/>
              </a:rPr>
              <a:t> Who need low-cost, expert data insights to increase their income and food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Agricultural Extension Officers:</a:t>
            </a:r>
            <a:r>
              <a:rPr kumimoji="0" lang="en-US" altLang="en-US" sz="1800" b="0" i="0" u="none" strike="noStrike" cap="none" normalizeH="0" baseline="0">
                <a:ln>
                  <a:noFill/>
                </a:ln>
                <a:solidFill>
                  <a:schemeClr val="tx1"/>
                </a:solidFill>
                <a:effectLst/>
                <a:latin typeface="Arial" panose="020B0604020202020204" pitchFamily="34" charset="0"/>
              </a:rPr>
              <a:t> Who can use the tool to provide data-driven, localized advice to the communities they serve.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NGOs &amp; Agricultural Cooperatives:</a:t>
            </a:r>
            <a:r>
              <a:rPr kumimoji="0" lang="en-US" altLang="en-US" sz="1800" b="0" i="0" u="none" strike="noStrike" cap="none" normalizeH="0" baseline="0">
                <a:ln>
                  <a:noFill/>
                </a:ln>
                <a:solidFill>
                  <a:schemeClr val="tx1"/>
                </a:solidFill>
                <a:effectLst/>
                <a:latin typeface="Arial" panose="020B0604020202020204" pitchFamily="34" charset="0"/>
              </a:rPr>
              <a:t> Organizations focused on promoting sustainable farming and climate resilience in rural areas.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081F1-6993-40EE-CC2A-078265FA772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53C91C1-72A0-EAE8-9FC2-BD983B6F25BA}"/>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 Placeholder 2">
            <a:extLst>
              <a:ext uri="{FF2B5EF4-FFF2-40B4-BE49-F238E27FC236}">
                <a16:creationId xmlns:a16="http://schemas.microsoft.com/office/drawing/2014/main" id="{BFF0C3AB-4C1B-52D4-92F5-16E09680650B}"/>
              </a:ext>
            </a:extLst>
          </p:cNvPr>
          <p:cNvSpPr>
            <a:spLocks noGrp="1" noChangeArrowheads="1"/>
          </p:cNvSpPr>
          <p:nvPr>
            <p:ph type="body" sz="quarter" idx="12"/>
          </p:nvPr>
        </p:nvSpPr>
        <p:spPr bwMode="auto">
          <a:xfrm>
            <a:off x="457619" y="1211207"/>
            <a:ext cx="10334026"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FontTx/>
              <a:buChar char="•"/>
            </a:pPr>
            <a:r>
              <a:rPr lang="en-IN" sz="3200" b="1" dirty="0">
                <a:latin typeface="Arial" panose="020B0604020202020204" pitchFamily="34" charset="0"/>
                <a:cs typeface="Arial" panose="020B0604020202020204" pitchFamily="34" charset="0"/>
              </a:rPr>
              <a:t>SDG Alignment</a:t>
            </a:r>
            <a:endParaRPr lang="en-US" altLang="en-US" sz="3200" b="1" dirty="0">
              <a:solidFill>
                <a:schemeClr val="tx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SDG 2: Zero Hunger</a:t>
            </a:r>
            <a:r>
              <a:rPr kumimoji="0" lang="en-US" altLang="en-US" sz="2400" b="0" i="0" u="none" strike="noStrike" cap="none" normalizeH="0" baseline="0" dirty="0">
                <a:ln>
                  <a:noFill/>
                </a:ln>
                <a:solidFill>
                  <a:schemeClr val="tx1"/>
                </a:solidFill>
                <a:effectLst/>
                <a:latin typeface="Arial" panose="020B0604020202020204" pitchFamily="34" charset="0"/>
              </a:rPr>
              <a:t> – By maximizing yields per hectare to ensure local food availability.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SDG 12: Responsible Consumption and Production</a:t>
            </a:r>
            <a:r>
              <a:rPr kumimoji="0" lang="en-US" altLang="en-US" sz="2400" b="0" i="0" u="none" strike="noStrike" cap="none" normalizeH="0" baseline="0" dirty="0">
                <a:ln>
                  <a:noFill/>
                </a:ln>
                <a:solidFill>
                  <a:schemeClr val="tx1"/>
                </a:solidFill>
                <a:effectLst/>
                <a:latin typeface="Arial" panose="020B0604020202020204" pitchFamily="34" charset="0"/>
              </a:rPr>
              <a:t> – By optimizing fertilizer and water usage to reduce waste.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SDG 13: Climate Action</a:t>
            </a:r>
            <a:r>
              <a:rPr kumimoji="0" lang="en-US" altLang="en-US" sz="2400" b="0" i="0" u="none" strike="noStrike" cap="none" normalizeH="0" baseline="0" dirty="0">
                <a:ln>
                  <a:noFill/>
                </a:ln>
                <a:solidFill>
                  <a:schemeClr val="tx1"/>
                </a:solidFill>
                <a:effectLst/>
                <a:latin typeface="Arial" panose="020B0604020202020204" pitchFamily="34" charset="0"/>
              </a:rPr>
              <a:t> – By recommending crops that are best suited for current local rainfall and temperature trends.</a:t>
            </a:r>
          </a:p>
        </p:txBody>
      </p:sp>
    </p:spTree>
    <p:extLst>
      <p:ext uri="{BB962C8B-B14F-4D97-AF65-F5344CB8AC3E}">
        <p14:creationId xmlns:p14="http://schemas.microsoft.com/office/powerpoint/2010/main" val="3001271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7154790" y="3696529"/>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5" name="Rectangle 3">
            <a:extLst>
              <a:ext uri="{FF2B5EF4-FFF2-40B4-BE49-F238E27FC236}">
                <a16:creationId xmlns:a16="http://schemas.microsoft.com/office/drawing/2014/main" id="{FDEDBC0D-1BF3-1E4A-D66B-1032FD921101}"/>
              </a:ext>
            </a:extLst>
          </p:cNvPr>
          <p:cNvSpPr>
            <a:spLocks noGrp="1" noChangeArrowheads="1"/>
          </p:cNvSpPr>
          <p:nvPr>
            <p:ph type="body" sz="quarter" idx="12"/>
          </p:nvPr>
        </p:nvSpPr>
        <p:spPr bwMode="auto">
          <a:xfrm>
            <a:off x="660399" y="1885918"/>
            <a:ext cx="641661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lnSpc>
                <a:spcPct val="100000"/>
              </a:lnSpc>
              <a:spcBef>
                <a:spcPct val="0"/>
              </a:spcBef>
              <a:spcAft>
                <a:spcPct val="0"/>
              </a:spcAft>
              <a:buClrTx/>
              <a:buSzTx/>
              <a:buFontTx/>
              <a:buChar char="•"/>
            </a:pPr>
            <a:r>
              <a:rPr lang="en-IN" sz="2400" dirty="0">
                <a:latin typeface="Arial" panose="020B0604020202020204" pitchFamily="34" charset="0"/>
                <a:cs typeface="Arial" panose="020B0604020202020204" pitchFamily="34" charset="0"/>
              </a:rPr>
              <a:t>Python (v3.12+)</a:t>
            </a:r>
          </a:p>
          <a:p>
            <a:pPr marL="0" lvl="0" indent="0" defTabSz="914400" eaLnBrk="0" fontAlgn="base" hangingPunct="0">
              <a:lnSpc>
                <a:spcPct val="100000"/>
              </a:lnSpc>
              <a:spcBef>
                <a:spcPct val="0"/>
              </a:spcBef>
              <a:spcAft>
                <a:spcPct val="0"/>
              </a:spcAft>
              <a:buClrTx/>
              <a:buSzTx/>
              <a:buFontTx/>
              <a:buChar char="•"/>
            </a:pPr>
            <a:r>
              <a:rPr lang="en-IN" sz="2400" dirty="0">
                <a:latin typeface="Arial" panose="020B0604020202020204" pitchFamily="34" charset="0"/>
                <a:cs typeface="Arial" panose="020B0604020202020204" pitchFamily="34" charset="0"/>
              </a:rPr>
              <a:t>Pandas and NumPy</a:t>
            </a:r>
          </a:p>
          <a:p>
            <a:pPr marL="0" lvl="0" indent="0" defTabSz="914400" eaLnBrk="0" fontAlgn="base" hangingPunct="0">
              <a:lnSpc>
                <a:spcPct val="100000"/>
              </a:lnSpc>
              <a:spcBef>
                <a:spcPct val="0"/>
              </a:spcBef>
              <a:spcAft>
                <a:spcPct val="0"/>
              </a:spcAft>
              <a:buClrTx/>
              <a:buSzTx/>
              <a:buFontTx/>
              <a:buChar char="•"/>
            </a:pPr>
            <a:r>
              <a:rPr lang="en-IN" sz="2400" dirty="0">
                <a:latin typeface="Arial" panose="020B0604020202020204" pitchFamily="34" charset="0"/>
                <a:cs typeface="Arial" panose="020B0604020202020204" pitchFamily="34" charset="0"/>
              </a:rPr>
              <a:t>Matplotlib and Seaborn</a:t>
            </a:r>
          </a:p>
          <a:p>
            <a:pPr marL="0" lvl="0" indent="0" defTabSz="914400" eaLnBrk="0" fontAlgn="base" hangingPunct="0">
              <a:lnSpc>
                <a:spcPct val="100000"/>
              </a:lnSpc>
              <a:spcBef>
                <a:spcPct val="0"/>
              </a:spcBef>
              <a:spcAft>
                <a:spcPct val="0"/>
              </a:spcAft>
              <a:buClrTx/>
              <a:buSzTx/>
              <a:buFontTx/>
              <a:buChar char="•"/>
            </a:pPr>
            <a:r>
              <a:rPr lang="en-IN" sz="2400" dirty="0">
                <a:latin typeface="Arial" panose="020B0604020202020204" pitchFamily="34" charset="0"/>
                <a:cs typeface="Arial" panose="020B0604020202020204" pitchFamily="34" charset="0"/>
              </a:rPr>
              <a:t>Scikit-learn </a:t>
            </a:r>
          </a:p>
          <a:p>
            <a:pPr marL="0" lvl="0" indent="0" defTabSz="914400" eaLnBrk="0" fontAlgn="base" hangingPunct="0">
              <a:lnSpc>
                <a:spcPct val="100000"/>
              </a:lnSpc>
              <a:spcBef>
                <a:spcPct val="0"/>
              </a:spcBef>
              <a:spcAft>
                <a:spcPct val="0"/>
              </a:spcAft>
              <a:buClrTx/>
              <a:buSzTx/>
              <a:buFontTx/>
              <a:buChar char="•"/>
            </a:pPr>
            <a:r>
              <a:rPr lang="en-IN" sz="2400" dirty="0">
                <a:latin typeface="Arial" panose="020B0604020202020204" pitchFamily="34" charset="0"/>
                <a:cs typeface="Arial" panose="020B0604020202020204" pitchFamily="34" charset="0"/>
              </a:rPr>
              <a:t>Google </a:t>
            </a:r>
            <a:r>
              <a:rPr lang="en-IN" sz="2400" dirty="0" err="1">
                <a:latin typeface="Arial" panose="020B0604020202020204" pitchFamily="34" charset="0"/>
                <a:cs typeface="Arial" panose="020B0604020202020204" pitchFamily="34" charset="0"/>
              </a:rPr>
              <a:t>Colab</a:t>
            </a:r>
            <a:r>
              <a:rPr lang="en-IN" sz="2400" dirty="0">
                <a:latin typeface="Arial" panose="020B0604020202020204" pitchFamily="34" charset="0"/>
                <a:cs typeface="Arial" panose="020B0604020202020204" pitchFamily="34" charset="0"/>
              </a:rPr>
              <a:t> / VS Code</a:t>
            </a:r>
          </a:p>
          <a:p>
            <a:pPr marL="0" lvl="0" indent="0" defTabSz="914400" eaLnBrk="0" fontAlgn="base" hangingPunct="0">
              <a:lnSpc>
                <a:spcPct val="100000"/>
              </a:lnSpc>
              <a:spcBef>
                <a:spcPct val="0"/>
              </a:spcBef>
              <a:spcAft>
                <a:spcPct val="0"/>
              </a:spcAft>
              <a:buClrTx/>
              <a:buSzTx/>
              <a:buFontTx/>
              <a:buChar char="•"/>
            </a:pPr>
            <a:r>
              <a:rPr kumimoji="0" lang="en-IN" altLang="en-US" sz="2400" i="0" u="none" strike="noStrike" cap="none" normalizeH="0" baseline="0" dirty="0">
                <a:ln>
                  <a:noFill/>
                </a:ln>
                <a:solidFill>
                  <a:schemeClr val="tx1"/>
                </a:solidFill>
                <a:effectLst/>
                <a:latin typeface="Arial" panose="020B0604020202020204" pitchFamily="34" charset="0"/>
                <a:cs typeface="Arial" panose="020B0604020202020204" pitchFamily="34" charset="0"/>
              </a:rPr>
              <a:t>IBM </a:t>
            </a:r>
            <a:r>
              <a:rPr kumimoji="0" lang="en-IN" altLang="en-US" sz="240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watsonx</a:t>
            </a:r>
            <a:endParaRPr kumimoji="0" lang="en-US" altLang="en-US" sz="24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70619" y="0"/>
            <a:ext cx="2748463" cy="790338"/>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46C48E5-E469-15F1-B205-E2C8988D2828}"/>
              </a:ext>
            </a:extLst>
          </p:cNvPr>
          <p:cNvPicPr>
            <a:picLocks noChangeAspect="1"/>
          </p:cNvPicPr>
          <p:nvPr/>
        </p:nvPicPr>
        <p:blipFill>
          <a:blip r:embed="rId4"/>
          <a:stretch>
            <a:fillRect/>
          </a:stretch>
        </p:blipFill>
        <p:spPr>
          <a:xfrm>
            <a:off x="422960" y="1061049"/>
            <a:ext cx="8364440" cy="540090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131004" y="3840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3772271" y="80144"/>
            <a:ext cx="1630128" cy="985811"/>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D6F7F30A-FE5F-0912-8895-39A15B58F693}"/>
              </a:ext>
            </a:extLst>
          </p:cNvPr>
          <p:cNvPicPr>
            <a:picLocks noChangeAspect="1"/>
          </p:cNvPicPr>
          <p:nvPr/>
        </p:nvPicPr>
        <p:blipFill>
          <a:blip r:embed="rId3"/>
          <a:stretch>
            <a:fillRect/>
          </a:stretch>
        </p:blipFill>
        <p:spPr>
          <a:xfrm>
            <a:off x="491706" y="1065955"/>
            <a:ext cx="10688128" cy="5413582"/>
          </a:xfrm>
          <a:prstGeom prst="rect">
            <a:avLst/>
          </a:prstGeom>
        </p:spPr>
      </p:pic>
    </p:spTree>
    <p:extLst>
      <p:ext uri="{BB962C8B-B14F-4D97-AF65-F5344CB8AC3E}">
        <p14:creationId xmlns:p14="http://schemas.microsoft.com/office/powerpoint/2010/main" val="28911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BE1B9-63D2-4D9B-0BC8-804468EF7F2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0554676-CF37-7B02-6478-6D30FC74AAB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EB00FA3-0A6B-A96C-1842-C5AD5FBF661E}"/>
              </a:ext>
            </a:extLst>
          </p:cNvPr>
          <p:cNvSpPr>
            <a:spLocks noGrp="1"/>
          </p:cNvSpPr>
          <p:nvPr>
            <p:ph type="title"/>
          </p:nvPr>
        </p:nvSpPr>
        <p:spPr>
          <a:xfrm>
            <a:off x="389797" y="9702"/>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5957DD2-F415-1428-0A2C-E78452253C7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1B6680A-D4B7-214E-B34B-A364142EBD5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5BF10F4F-10FC-2702-14A3-96BAC7766E57}"/>
              </a:ext>
            </a:extLst>
          </p:cNvPr>
          <p:cNvSpPr txBox="1">
            <a:spLocks/>
          </p:cNvSpPr>
          <p:nvPr/>
        </p:nvSpPr>
        <p:spPr>
          <a:xfrm>
            <a:off x="3772271" y="80144"/>
            <a:ext cx="1630128" cy="985811"/>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DB1A4B03-7212-65CD-6324-2972CBD123E6}"/>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CB261751-3FFC-5BA5-8929-C73A337AE8C2}"/>
              </a:ext>
            </a:extLst>
          </p:cNvPr>
          <p:cNvPicPr>
            <a:picLocks noChangeAspect="1"/>
          </p:cNvPicPr>
          <p:nvPr/>
        </p:nvPicPr>
        <p:blipFill>
          <a:blip r:embed="rId3"/>
          <a:stretch>
            <a:fillRect/>
          </a:stretch>
        </p:blipFill>
        <p:spPr>
          <a:xfrm>
            <a:off x="807164" y="942112"/>
            <a:ext cx="7441303" cy="5626328"/>
          </a:xfrm>
          <a:prstGeom prst="rect">
            <a:avLst/>
          </a:prstGeom>
        </p:spPr>
      </p:pic>
    </p:spTree>
    <p:extLst>
      <p:ext uri="{BB962C8B-B14F-4D97-AF65-F5344CB8AC3E}">
        <p14:creationId xmlns:p14="http://schemas.microsoft.com/office/powerpoint/2010/main" val="1177372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8E0AD-244A-5560-66ED-B9E58EE1540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531BE40-434C-EF9D-EA2A-0B7B88CD7D4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333153B-BBB5-543C-A776-9D245DCAA2CD}"/>
              </a:ext>
            </a:extLst>
          </p:cNvPr>
          <p:cNvSpPr>
            <a:spLocks noGrp="1"/>
          </p:cNvSpPr>
          <p:nvPr>
            <p:ph type="title"/>
          </p:nvPr>
        </p:nvSpPr>
        <p:spPr>
          <a:xfrm>
            <a:off x="501940" y="80144"/>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6E7E1CA-394E-8C8C-0270-C1CF53214B2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01F3C5A-06DE-EBDF-4920-10A0DC926AA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58C7851-7FD8-989D-E829-593DA0247DF4}"/>
              </a:ext>
            </a:extLst>
          </p:cNvPr>
          <p:cNvSpPr txBox="1">
            <a:spLocks/>
          </p:cNvSpPr>
          <p:nvPr/>
        </p:nvSpPr>
        <p:spPr>
          <a:xfrm>
            <a:off x="3772271" y="80144"/>
            <a:ext cx="1630128" cy="985811"/>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9D75B363-50A3-397C-AA61-B637FE693A7A}"/>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12" name="Picture 11">
            <a:extLst>
              <a:ext uri="{FF2B5EF4-FFF2-40B4-BE49-F238E27FC236}">
                <a16:creationId xmlns:a16="http://schemas.microsoft.com/office/drawing/2014/main" id="{5CE354C7-3151-A187-B27D-7D7A3CBF43A2}"/>
              </a:ext>
            </a:extLst>
          </p:cNvPr>
          <p:cNvPicPr>
            <a:picLocks noChangeAspect="1"/>
          </p:cNvPicPr>
          <p:nvPr/>
        </p:nvPicPr>
        <p:blipFill>
          <a:blip r:embed="rId3"/>
          <a:stretch>
            <a:fillRect/>
          </a:stretch>
        </p:blipFill>
        <p:spPr>
          <a:xfrm>
            <a:off x="675957" y="1065954"/>
            <a:ext cx="8580186" cy="5343471"/>
          </a:xfrm>
          <a:prstGeom prst="rect">
            <a:avLst/>
          </a:prstGeom>
        </p:spPr>
      </p:pic>
    </p:spTree>
    <p:extLst>
      <p:ext uri="{BB962C8B-B14F-4D97-AF65-F5344CB8AC3E}">
        <p14:creationId xmlns:p14="http://schemas.microsoft.com/office/powerpoint/2010/main" val="4000534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39C04-7944-D193-ACB0-F6099143418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A69C846-02F9-B34E-8632-A903FAEAC62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3CC20F4-3E4C-8F40-59A0-55A970BA9F70}"/>
              </a:ext>
            </a:extLst>
          </p:cNvPr>
          <p:cNvSpPr>
            <a:spLocks noGrp="1"/>
          </p:cNvSpPr>
          <p:nvPr>
            <p:ph type="title"/>
          </p:nvPr>
        </p:nvSpPr>
        <p:spPr>
          <a:xfrm>
            <a:off x="501940" y="80144"/>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38EBCF0-8A86-8276-436F-2957C3DA6C7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A88BDDA-3A01-0DD0-DD8A-FF5D081EA26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5F857F1-50B4-0DA4-337C-92D45625F892}"/>
              </a:ext>
            </a:extLst>
          </p:cNvPr>
          <p:cNvSpPr txBox="1">
            <a:spLocks/>
          </p:cNvSpPr>
          <p:nvPr/>
        </p:nvSpPr>
        <p:spPr>
          <a:xfrm>
            <a:off x="3772271" y="80144"/>
            <a:ext cx="1630128" cy="985811"/>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D8012D80-5513-CBFD-C41D-4F60052F3E6A}"/>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D0E42879-51E4-5F03-7792-084C155685D8}"/>
              </a:ext>
            </a:extLst>
          </p:cNvPr>
          <p:cNvPicPr>
            <a:picLocks noChangeAspect="1"/>
          </p:cNvPicPr>
          <p:nvPr/>
        </p:nvPicPr>
        <p:blipFill>
          <a:blip r:embed="rId3"/>
          <a:stretch>
            <a:fillRect/>
          </a:stretch>
        </p:blipFill>
        <p:spPr>
          <a:xfrm>
            <a:off x="396052" y="972984"/>
            <a:ext cx="10916817" cy="5427815"/>
          </a:xfrm>
          <a:prstGeom prst="rect">
            <a:avLst/>
          </a:prstGeom>
        </p:spPr>
      </p:pic>
    </p:spTree>
    <p:extLst>
      <p:ext uri="{BB962C8B-B14F-4D97-AF65-F5344CB8AC3E}">
        <p14:creationId xmlns:p14="http://schemas.microsoft.com/office/powerpoint/2010/main" val="3414308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617EC-ADA0-71F7-DFAC-208361F4D42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BF9FA15-3B88-E22B-7551-62411384F9E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BEBB467-5B13-0497-4340-ED694F2B5DD5}"/>
              </a:ext>
            </a:extLst>
          </p:cNvPr>
          <p:cNvSpPr>
            <a:spLocks noGrp="1"/>
          </p:cNvSpPr>
          <p:nvPr>
            <p:ph type="title"/>
          </p:nvPr>
        </p:nvSpPr>
        <p:spPr>
          <a:xfrm>
            <a:off x="501940" y="80144"/>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9C116E3-A817-3781-9CFF-35BC604DECC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AF61251-50F3-8C32-EF61-F773FBA02A1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97B05382-8B56-F294-0643-DB1B70CE29D3}"/>
              </a:ext>
            </a:extLst>
          </p:cNvPr>
          <p:cNvSpPr txBox="1">
            <a:spLocks/>
          </p:cNvSpPr>
          <p:nvPr/>
        </p:nvSpPr>
        <p:spPr>
          <a:xfrm>
            <a:off x="3772271" y="80144"/>
            <a:ext cx="1630128" cy="985811"/>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B852A659-44AA-304E-BCAA-70FB372E866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6" name="Picture 5">
            <a:extLst>
              <a:ext uri="{FF2B5EF4-FFF2-40B4-BE49-F238E27FC236}">
                <a16:creationId xmlns:a16="http://schemas.microsoft.com/office/drawing/2014/main" id="{9E617143-D3DB-A24D-1A8C-6B8857EBD3E0}"/>
              </a:ext>
            </a:extLst>
          </p:cNvPr>
          <p:cNvPicPr>
            <a:picLocks noChangeAspect="1"/>
          </p:cNvPicPr>
          <p:nvPr/>
        </p:nvPicPr>
        <p:blipFill>
          <a:blip r:embed="rId3"/>
          <a:stretch>
            <a:fillRect/>
          </a:stretch>
        </p:blipFill>
        <p:spPr>
          <a:xfrm>
            <a:off x="675958" y="1210789"/>
            <a:ext cx="10771296" cy="4371839"/>
          </a:xfrm>
          <a:prstGeom prst="rect">
            <a:avLst/>
          </a:prstGeom>
        </p:spPr>
      </p:pic>
    </p:spTree>
    <p:extLst>
      <p:ext uri="{BB962C8B-B14F-4D97-AF65-F5344CB8AC3E}">
        <p14:creationId xmlns:p14="http://schemas.microsoft.com/office/powerpoint/2010/main" val="536229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398429" y="558366"/>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RESULTS</a:t>
            </a:r>
            <a:r>
              <a:rPr lang="en-GB" b="1" dirty="0">
                <a:solidFill>
                  <a:schemeClr val="tx1"/>
                </a:solidFill>
              </a:rPr>
              <a:t> </a:t>
            </a:r>
            <a:endParaRPr lang="en-IN" b="1" dirty="0">
              <a:solidFill>
                <a:schemeClr val="tx1"/>
              </a:solidFill>
            </a:endParaRPr>
          </a:p>
        </p:txBody>
      </p:sp>
      <p:sp>
        <p:nvSpPr>
          <p:cNvPr id="3" name="Rectangle 2">
            <a:extLst>
              <a:ext uri="{FF2B5EF4-FFF2-40B4-BE49-F238E27FC236}">
                <a16:creationId xmlns:a16="http://schemas.microsoft.com/office/drawing/2014/main" id="{D8138E02-6DF4-52BE-DF55-86242BF7C5B8}"/>
              </a:ext>
            </a:extLst>
          </p:cNvPr>
          <p:cNvSpPr>
            <a:spLocks noChangeArrowheads="1"/>
          </p:cNvSpPr>
          <p:nvPr/>
        </p:nvSpPr>
        <p:spPr bwMode="auto">
          <a:xfrm rot="10800000" flipV="1">
            <a:off x="398429" y="1716520"/>
            <a:ext cx="940980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High Accuracy:</a:t>
            </a:r>
            <a:r>
              <a:rPr kumimoji="0" lang="en-US" altLang="en-US" sz="2400" b="0" i="0" u="none" strike="noStrike" cap="none" normalizeH="0" baseline="0" dirty="0">
                <a:ln>
                  <a:noFill/>
                </a:ln>
                <a:solidFill>
                  <a:schemeClr val="tx1"/>
                </a:solidFill>
                <a:effectLst/>
                <a:latin typeface="Arial" panose="020B0604020202020204" pitchFamily="34" charset="0"/>
              </a:rPr>
              <a:t> The model achieved a high accuracy score (typically &gt;99% in testing) across 22 different crop varieties.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Transparency:</a:t>
            </a:r>
            <a:r>
              <a:rPr kumimoji="0" lang="en-US" altLang="en-US" sz="2400" b="0" i="0" u="none" strike="noStrike" cap="none" normalizeH="0" baseline="0" dirty="0">
                <a:ln>
                  <a:noFill/>
                </a:ln>
                <a:solidFill>
                  <a:schemeClr val="tx1"/>
                </a:solidFill>
                <a:effectLst/>
                <a:latin typeface="Arial" panose="020B0604020202020204" pitchFamily="34" charset="0"/>
              </a:rPr>
              <a:t> The </a:t>
            </a:r>
            <a:r>
              <a:rPr kumimoji="0" lang="en-US" altLang="en-US" sz="2400" i="0" u="none" strike="noStrike" cap="none" normalizeH="0" baseline="0" dirty="0">
                <a:ln>
                  <a:noFill/>
                </a:ln>
                <a:solidFill>
                  <a:schemeClr val="tx1"/>
                </a:solidFill>
                <a:effectLst/>
                <a:latin typeface="Arial" panose="020B0604020202020204" pitchFamily="34" charset="0"/>
              </a:rPr>
              <a:t>Feature Importance </a:t>
            </a:r>
            <a:r>
              <a:rPr kumimoji="0" lang="en-US" altLang="en-US" sz="2400" b="0" i="0" u="none" strike="noStrike" cap="none" normalizeH="0" baseline="0" dirty="0">
                <a:ln>
                  <a:noFill/>
                </a:ln>
                <a:solidFill>
                  <a:schemeClr val="tx1"/>
                </a:solidFill>
                <a:effectLst/>
                <a:latin typeface="Arial" panose="020B0604020202020204" pitchFamily="34" charset="0"/>
              </a:rPr>
              <a:t>plot revealed that environmental factors like Rainfall and Humidity are often as critical as soil nutrients (NPK) in crop selection.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Decision Support:</a:t>
            </a:r>
            <a:r>
              <a:rPr kumimoji="0" lang="en-US" altLang="en-US" sz="2400" b="0" i="0" u="none" strike="noStrike" cap="none" normalizeH="0" baseline="0" dirty="0">
                <a:ln>
                  <a:noFill/>
                </a:ln>
                <a:solidFill>
                  <a:schemeClr val="tx1"/>
                </a:solidFill>
                <a:effectLst/>
                <a:latin typeface="Arial" panose="020B0604020202020204" pitchFamily="34" charset="0"/>
              </a:rPr>
              <a:t> The </a:t>
            </a:r>
            <a:r>
              <a:rPr kumimoji="0" lang="en-US" altLang="en-US" sz="2400" i="0" u="none" strike="noStrike" cap="none" normalizeH="0" baseline="0" dirty="0">
                <a:ln>
                  <a:noFill/>
                </a:ln>
                <a:solidFill>
                  <a:schemeClr val="tx1"/>
                </a:solidFill>
                <a:effectLst/>
                <a:latin typeface="Arial" panose="020B0604020202020204" pitchFamily="34" charset="0"/>
              </a:rPr>
              <a:t>Sustainability Profile </a:t>
            </a:r>
            <a:r>
              <a:rPr kumimoji="0" lang="en-US" altLang="en-US" sz="2400" b="0" i="0" u="none" strike="noStrike" cap="none" normalizeH="0" baseline="0" dirty="0">
                <a:ln>
                  <a:noFill/>
                </a:ln>
                <a:solidFill>
                  <a:schemeClr val="tx1"/>
                </a:solidFill>
                <a:effectLst/>
                <a:latin typeface="Arial" panose="020B0604020202020204" pitchFamily="34" charset="0"/>
              </a:rPr>
              <a:t>output successfully provides actionable advice, such as recommending "Alternate Wetting and Drying" for rice to save water.</a:t>
            </a:r>
          </a:p>
        </p:txBody>
      </p:sp>
    </p:spTree>
    <p:extLst>
      <p:ext uri="{BB962C8B-B14F-4D97-AF65-F5344CB8AC3E}">
        <p14:creationId xmlns:p14="http://schemas.microsoft.com/office/powerpoint/2010/main" val="185979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D4221-FC9B-3D5F-94AD-CF43F40228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D77AFAE-6C48-4FE5-D9D5-7C6FDA527459}"/>
              </a:ext>
            </a:extLst>
          </p:cNvPr>
          <p:cNvSpPr txBox="1"/>
          <p:nvPr/>
        </p:nvSpPr>
        <p:spPr>
          <a:xfrm>
            <a:off x="378663" y="474236"/>
            <a:ext cx="11189360" cy="1477328"/>
          </a:xfrm>
          <a:prstGeom prst="rect">
            <a:avLst/>
          </a:prstGeom>
          <a:noFill/>
        </p:spPr>
        <p:txBody>
          <a:bodyPr wrap="square">
            <a:spAutoFit/>
          </a:bodyPr>
          <a:lstStyle/>
          <a:p>
            <a:pPr>
              <a:buNone/>
            </a:pPr>
            <a:endParaRPr lang="en-US" b="1" dirty="0"/>
          </a:p>
          <a:p>
            <a:r>
              <a:rPr lang="en-US" sz="2400" b="1" dirty="0">
                <a:latin typeface="Arial" panose="020B0604020202020204" pitchFamily="34" charset="0"/>
                <a:cs typeface="Arial" panose="020B0604020202020204" pitchFamily="34" charset="0"/>
              </a:rPr>
              <a:t>Future Scope &amp; Scalability</a:t>
            </a:r>
          </a:p>
          <a:p>
            <a:endParaRPr lang="en-US" sz="2400" b="1" dirty="0">
              <a:latin typeface="Arial" panose="020B0604020202020204" pitchFamily="34" charset="0"/>
              <a:cs typeface="Arial" panose="020B0604020202020204" pitchFamily="34" charset="0"/>
            </a:endParaRPr>
          </a:p>
          <a:p>
            <a:endParaRPr lang="en-US" sz="2400" b="1"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A065DFA2-B4C0-B7D4-90C3-531C17582AFC}"/>
              </a:ext>
            </a:extLst>
          </p:cNvPr>
          <p:cNvSpPr>
            <a:spLocks noChangeArrowheads="1"/>
          </p:cNvSpPr>
          <p:nvPr/>
        </p:nvSpPr>
        <p:spPr bwMode="auto">
          <a:xfrm>
            <a:off x="286063" y="1679053"/>
            <a:ext cx="10281296"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Integration with Real-time IoT:</a:t>
            </a:r>
            <a:r>
              <a:rPr kumimoji="0" lang="en-US" altLang="en-US" sz="2000" b="0" i="0" u="none" strike="noStrike" cap="none" normalizeH="0" baseline="0" dirty="0">
                <a:ln>
                  <a:noFill/>
                </a:ln>
                <a:solidFill>
                  <a:schemeClr val="tx1"/>
                </a:solidFill>
                <a:effectLst/>
                <a:latin typeface="Arial" panose="020B0604020202020204" pitchFamily="34" charset="0"/>
              </a:rPr>
              <a:t> Connecting the AI model to live soil sensors for real-time automated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Mobile Application:</a:t>
            </a:r>
            <a:r>
              <a:rPr kumimoji="0" lang="en-US" altLang="en-US" sz="2000" b="0" i="0" u="none" strike="noStrike" cap="none" normalizeH="0" baseline="0" dirty="0">
                <a:ln>
                  <a:noFill/>
                </a:ln>
                <a:solidFill>
                  <a:schemeClr val="tx1"/>
                </a:solidFill>
                <a:effectLst/>
                <a:latin typeface="Arial" panose="020B0604020202020204" pitchFamily="34" charset="0"/>
              </a:rPr>
              <a:t> Developing a lightweight Android app for farmers with limited internet access to use the tool offline.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Multimodal Input:</a:t>
            </a:r>
            <a:r>
              <a:rPr kumimoji="0" lang="en-US" altLang="en-US" sz="2000" b="0" i="0" u="none" strike="noStrike" cap="none" normalizeH="0" baseline="0" dirty="0">
                <a:ln>
                  <a:noFill/>
                </a:ln>
                <a:solidFill>
                  <a:schemeClr val="tx1"/>
                </a:solidFill>
                <a:effectLst/>
                <a:latin typeface="Arial" panose="020B0604020202020204" pitchFamily="34" charset="0"/>
              </a:rPr>
              <a:t> Allowing farmers to upload photos of their soil or current crops for health monitoring and pest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Economic Forecasting:</a:t>
            </a:r>
            <a:r>
              <a:rPr kumimoji="0" lang="en-US" altLang="en-US" sz="2000" b="0" i="0" u="none" strike="noStrike" cap="none" normalizeH="0" baseline="0" dirty="0">
                <a:ln>
                  <a:noFill/>
                </a:ln>
                <a:solidFill>
                  <a:schemeClr val="tx1"/>
                </a:solidFill>
                <a:effectLst/>
                <a:latin typeface="Arial" panose="020B0604020202020204" pitchFamily="34" charset="0"/>
              </a:rPr>
              <a:t> Adding a module to predict the market price of recommended crops to help farmers maximize their economic gains.</a:t>
            </a:r>
          </a:p>
        </p:txBody>
      </p:sp>
    </p:spTree>
    <p:extLst>
      <p:ext uri="{BB962C8B-B14F-4D97-AF65-F5344CB8AC3E}">
        <p14:creationId xmlns:p14="http://schemas.microsoft.com/office/powerpoint/2010/main" val="529033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84ACF-BBC2-AAF9-A7E3-B8793373EB2D}"/>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A43ABE12-9A1D-79E1-AA54-7A4DD9D18E58}"/>
              </a:ext>
            </a:extLst>
          </p:cNvPr>
          <p:cNvSpPr txBox="1">
            <a:spLocks/>
          </p:cNvSpPr>
          <p:nvPr/>
        </p:nvSpPr>
        <p:spPr>
          <a:xfrm>
            <a:off x="122384" y="385838"/>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a:t>
            </a:r>
            <a:r>
              <a:rPr lang="en-GB" b="1" dirty="0">
                <a:solidFill>
                  <a:schemeClr val="tx1"/>
                </a:solidFill>
              </a:rPr>
              <a:t> </a:t>
            </a:r>
            <a:endParaRPr lang="en-IN" b="1" dirty="0">
              <a:solidFill>
                <a:schemeClr val="tx1"/>
              </a:solidFill>
            </a:endParaRPr>
          </a:p>
        </p:txBody>
      </p:sp>
      <p:pic>
        <p:nvPicPr>
          <p:cNvPr id="4" name="Picture 3">
            <a:extLst>
              <a:ext uri="{FF2B5EF4-FFF2-40B4-BE49-F238E27FC236}">
                <a16:creationId xmlns:a16="http://schemas.microsoft.com/office/drawing/2014/main" id="{8F8993C1-8DC5-DF5C-D716-2E0E823FC0E1}"/>
              </a:ext>
            </a:extLst>
          </p:cNvPr>
          <p:cNvPicPr>
            <a:picLocks noChangeAspect="1"/>
          </p:cNvPicPr>
          <p:nvPr/>
        </p:nvPicPr>
        <p:blipFill>
          <a:blip r:embed="rId2"/>
          <a:stretch>
            <a:fillRect/>
          </a:stretch>
        </p:blipFill>
        <p:spPr>
          <a:xfrm>
            <a:off x="450170" y="1216835"/>
            <a:ext cx="9504713" cy="4906079"/>
          </a:xfrm>
          <a:prstGeom prst="rect">
            <a:avLst/>
          </a:prstGeom>
        </p:spPr>
      </p:pic>
    </p:spTree>
    <p:extLst>
      <p:ext uri="{BB962C8B-B14F-4D97-AF65-F5344CB8AC3E}">
        <p14:creationId xmlns:p14="http://schemas.microsoft.com/office/powerpoint/2010/main" val="347175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16</a:t>
            </a:fld>
            <a:endParaRPr lang="en-US" dirty="0"/>
          </a:p>
        </p:txBody>
      </p:sp>
      <p:sp>
        <p:nvSpPr>
          <p:cNvPr id="3" name="Title 3">
            <a:extLst>
              <a:ext uri="{FF2B5EF4-FFF2-40B4-BE49-F238E27FC236}">
                <a16:creationId xmlns:a16="http://schemas.microsoft.com/office/drawing/2014/main" id="{AFE3A2AF-177E-45E6-A191-0F8523DB7FFA}"/>
              </a:ext>
            </a:extLst>
          </p:cNvPr>
          <p:cNvSpPr txBox="1">
            <a:spLocks/>
          </p:cNvSpPr>
          <p:nvPr/>
        </p:nvSpPr>
        <p:spPr>
          <a:xfrm>
            <a:off x="447022" y="965854"/>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b="1" dirty="0">
                <a:solidFill>
                  <a:schemeClr val="tx1"/>
                </a:solidFill>
              </a:rPr>
              <a:t>GitHub link</a:t>
            </a:r>
          </a:p>
        </p:txBody>
      </p:sp>
      <p:sp>
        <p:nvSpPr>
          <p:cNvPr id="5" name="TextBox 4">
            <a:extLst>
              <a:ext uri="{FF2B5EF4-FFF2-40B4-BE49-F238E27FC236}">
                <a16:creationId xmlns:a16="http://schemas.microsoft.com/office/drawing/2014/main" id="{B8B04600-6DBB-48EF-8C90-289BFF3D47AB}"/>
              </a:ext>
            </a:extLst>
          </p:cNvPr>
          <p:cNvSpPr txBox="1"/>
          <p:nvPr/>
        </p:nvSpPr>
        <p:spPr>
          <a:xfrm>
            <a:off x="447022" y="1566019"/>
            <a:ext cx="9412970" cy="461665"/>
          </a:xfrm>
          <a:prstGeom prst="rect">
            <a:avLst/>
          </a:prstGeom>
          <a:noFill/>
        </p:spPr>
        <p:txBody>
          <a:bodyPr wrap="square">
            <a:spAutoFit/>
          </a:bodyPr>
          <a:lstStyle/>
          <a:p>
            <a:r>
              <a:rPr lang="en-IN" sz="2400" dirty="0"/>
              <a:t>https://github.com/vaishaldsouza/SmartCrop-AI-Sustainability</a:t>
            </a:r>
          </a:p>
        </p:txBody>
      </p:sp>
      <p:sp>
        <p:nvSpPr>
          <p:cNvPr id="7" name="TextBox 6">
            <a:extLst>
              <a:ext uri="{FF2B5EF4-FFF2-40B4-BE49-F238E27FC236}">
                <a16:creationId xmlns:a16="http://schemas.microsoft.com/office/drawing/2014/main" id="{2692291B-9900-5761-6A22-68E1FC10DC7E}"/>
              </a:ext>
            </a:extLst>
          </p:cNvPr>
          <p:cNvSpPr txBox="1"/>
          <p:nvPr/>
        </p:nvSpPr>
        <p:spPr>
          <a:xfrm>
            <a:off x="447022" y="3131534"/>
            <a:ext cx="10168386" cy="369332"/>
          </a:xfrm>
          <a:prstGeom prst="rect">
            <a:avLst/>
          </a:prstGeom>
          <a:noFill/>
        </p:spPr>
        <p:txBody>
          <a:bodyPr wrap="square">
            <a:spAutoFit/>
          </a:bodyPr>
          <a:lstStyle/>
          <a:p>
            <a:r>
              <a:rPr lang="en-IN" dirty="0"/>
              <a:t>https://colab.research.google.com/drive/1wlnr8IDLW2fHvQN3N-WXtHZY3iESzmdV?usp=sharing</a:t>
            </a:r>
          </a:p>
        </p:txBody>
      </p:sp>
      <p:sp>
        <p:nvSpPr>
          <p:cNvPr id="9" name="TextBox 8">
            <a:extLst>
              <a:ext uri="{FF2B5EF4-FFF2-40B4-BE49-F238E27FC236}">
                <a16:creationId xmlns:a16="http://schemas.microsoft.com/office/drawing/2014/main" id="{3C53507D-7074-A150-796E-A09358B0C53D}"/>
              </a:ext>
            </a:extLst>
          </p:cNvPr>
          <p:cNvSpPr txBox="1"/>
          <p:nvPr/>
        </p:nvSpPr>
        <p:spPr>
          <a:xfrm>
            <a:off x="447022" y="2547226"/>
            <a:ext cx="6103188" cy="584775"/>
          </a:xfrm>
          <a:prstGeom prst="rect">
            <a:avLst/>
          </a:prstGeom>
          <a:noFill/>
        </p:spPr>
        <p:txBody>
          <a:bodyPr wrap="square">
            <a:spAutoFit/>
          </a:bodyPr>
          <a:lstStyle/>
          <a:p>
            <a:r>
              <a:rPr lang="en-IN" sz="3200" b="1" dirty="0">
                <a:solidFill>
                  <a:schemeClr val="tx1"/>
                </a:solidFill>
              </a:rPr>
              <a:t>Google </a:t>
            </a:r>
            <a:r>
              <a:rPr lang="en-IN" sz="3200" b="1" dirty="0" err="1">
                <a:solidFill>
                  <a:schemeClr val="tx1"/>
                </a:solidFill>
              </a:rPr>
              <a:t>Colab</a:t>
            </a:r>
            <a:r>
              <a:rPr lang="en-IN" sz="3200" b="1" dirty="0">
                <a:solidFill>
                  <a:schemeClr val="tx1"/>
                </a:solidFill>
              </a:rPr>
              <a:t> link</a:t>
            </a:r>
          </a:p>
        </p:txBody>
      </p:sp>
      <p:sp>
        <p:nvSpPr>
          <p:cNvPr id="11" name="TextBox 10">
            <a:extLst>
              <a:ext uri="{FF2B5EF4-FFF2-40B4-BE49-F238E27FC236}">
                <a16:creationId xmlns:a16="http://schemas.microsoft.com/office/drawing/2014/main" id="{01F08636-134A-D614-2601-6C76606E90E8}"/>
              </a:ext>
            </a:extLst>
          </p:cNvPr>
          <p:cNvSpPr txBox="1"/>
          <p:nvPr/>
        </p:nvSpPr>
        <p:spPr>
          <a:xfrm>
            <a:off x="563477" y="4564968"/>
            <a:ext cx="10051931" cy="369332"/>
          </a:xfrm>
          <a:prstGeom prst="rect">
            <a:avLst/>
          </a:prstGeom>
          <a:noFill/>
        </p:spPr>
        <p:txBody>
          <a:bodyPr wrap="square">
            <a:spAutoFit/>
          </a:bodyPr>
          <a:lstStyle/>
          <a:p>
            <a:r>
              <a:rPr lang="en-IN" dirty="0"/>
              <a:t>https://drive.google.com/drive/folders/1tBnWB-iBuO666V_cepi8OnyawEP1ceU1?usp=sharing</a:t>
            </a:r>
          </a:p>
        </p:txBody>
      </p:sp>
      <p:sp>
        <p:nvSpPr>
          <p:cNvPr id="13" name="TextBox 12">
            <a:extLst>
              <a:ext uri="{FF2B5EF4-FFF2-40B4-BE49-F238E27FC236}">
                <a16:creationId xmlns:a16="http://schemas.microsoft.com/office/drawing/2014/main" id="{DFE51562-0DFE-A0BC-6508-8C0914AAACE4}"/>
              </a:ext>
            </a:extLst>
          </p:cNvPr>
          <p:cNvSpPr txBox="1"/>
          <p:nvPr/>
        </p:nvSpPr>
        <p:spPr>
          <a:xfrm>
            <a:off x="563477" y="3922553"/>
            <a:ext cx="6103188" cy="584775"/>
          </a:xfrm>
          <a:prstGeom prst="rect">
            <a:avLst/>
          </a:prstGeom>
          <a:noFill/>
        </p:spPr>
        <p:txBody>
          <a:bodyPr wrap="square">
            <a:spAutoFit/>
          </a:bodyPr>
          <a:lstStyle/>
          <a:p>
            <a:r>
              <a:rPr lang="en-IN" sz="3200" b="1" dirty="0">
                <a:solidFill>
                  <a:schemeClr val="tx1"/>
                </a:solidFill>
              </a:rPr>
              <a:t>Google </a:t>
            </a:r>
            <a:r>
              <a:rPr lang="en-IN" sz="3200" b="1" dirty="0"/>
              <a:t>Drive</a:t>
            </a:r>
            <a:r>
              <a:rPr lang="en-IN" sz="3200" b="1" dirty="0">
                <a:solidFill>
                  <a:schemeClr val="tx1"/>
                </a:solidFill>
              </a:rPr>
              <a:t> link</a:t>
            </a:r>
          </a:p>
        </p:txBody>
      </p:sp>
    </p:spTree>
    <p:extLst>
      <p:ext uri="{BB962C8B-B14F-4D97-AF65-F5344CB8AC3E}">
        <p14:creationId xmlns:p14="http://schemas.microsoft.com/office/powerpoint/2010/main" val="35632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78337" y="1648365"/>
            <a:ext cx="7799837"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documentManagement/types"/>
    <ds:schemaRef ds:uri="http://purl.org/dc/elements/1.1/"/>
    <ds:schemaRef ds:uri="71af3243-3dd4-4a8d-8c0d-dd76da1f02a5"/>
    <ds:schemaRef ds:uri="http://schemas.openxmlformats.org/package/2006/metadata/core-properties"/>
    <ds:schemaRef ds:uri="http://purl.org/dc/terms/"/>
    <ds:schemaRef ds:uri="http://www.w3.org/XML/1998/namespace"/>
    <ds:schemaRef ds:uri="http://schemas.microsoft.com/office/2006/metadata/properties"/>
    <ds:schemaRef ds:uri="http://schemas.microsoft.com/office/infopath/2007/PartnerControls"/>
    <ds:schemaRef ds:uri="16c05727-aa75-4e4a-9b5f-8a80a1165891"/>
    <ds:schemaRef ds:uri="http://purl.org/dc/dcmitype/"/>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10801</TotalTime>
  <Words>638</Words>
  <Application>Microsoft Office PowerPoint</Application>
  <PresentationFormat>Widescreen</PresentationFormat>
  <Paragraphs>52</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 SmartCrop: AI-Driven Sustainability Advisor for Farmers</vt:lpstr>
      <vt:lpstr>PROBLEM  STATEMENT</vt:lpstr>
      <vt:lpstr>Project Description </vt:lpstr>
      <vt:lpstr>WHO ARE THE END USERS?</vt:lpstr>
      <vt:lpstr>PowerPoint Presentation</vt:lpstr>
      <vt:lpstr>Technology Used</vt:lpstr>
      <vt:lpstr>RESULTS </vt:lpstr>
      <vt:lpstr>RESULTS </vt:lpstr>
      <vt:lpstr>RESULTS </vt:lpstr>
      <vt:lpstr>RESULTS </vt:lpstr>
      <vt:lpstr>RESULTS </vt:lpstr>
      <vt:lpstr>RESULTS </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Vaishal Dsouza</cp:lastModifiedBy>
  <cp:revision>80</cp:revision>
  <dcterms:created xsi:type="dcterms:W3CDTF">2021-07-11T13:13:15Z</dcterms:created>
  <dcterms:modified xsi:type="dcterms:W3CDTF">2026-01-21T18:40:00Z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